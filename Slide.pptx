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D9488"/>
                </a:solidFill>
                <a:latin typeface="Arial"/>
              </a:defRPr>
            </a:pPr>
            <a:r>
              <a:t>BÁO CÁO ĐỀ TÀI THỰC TẬP CƠ SỞ</a:t>
            </a:r>
          </a:p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XÂY DỰNG WEBSITE BÁN HÀNG ONLINE</a:t>
            </a:r>
            <a:br/>
            <a:r>
              <a:t>(MERN STACK &amp; TEMPLATE ENGINE PUG)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41148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Sinh viên thực hiện: Bùi Huy Hoàng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Mã sinh viên: B23DCKH043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Lớp hành chính: D23CQKH01-B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Lớp học phần: INT13147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Giảng viên bộ môn: TS. Nguyễn Xuân Đức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Giới Thiệu Dự Án &amp; Mục Tiêu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Sự bùng nổ của Thương mại điện tử (TMĐT): Nhu cầu mua sắm và quản lý bán hàng trực tuyến trở thành xu hướng tất yếu hiện nay.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Ý tưởng dự án: Xây dựng một ứng dụng web thương mại điện tử hoàn chỉnh, hỗ trợ tương tác liền mạch giữa khách hàng và bộ phận quản trị.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 đề tài: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Xây dựng phân hệ Admin chuyên nghiệp để quản lý sản phẩm, danh mục, phân quyền và đơn hàng hiệu quả.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Xây dựng phân hệ Client thân thiện, dễ tương tác giúp khách hàng tìm kiếm, đặt hàng và xem lịch sử mua sắm trực quan.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Tối ưu hóa hiệu năng tải trang bằng cơ chế render phía máy chủ (Server-side rendering) với Pug.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Công Nghệ Sử Dụng (Tech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Backend (Linh hồn hệ thống): Node.js kết hợp Web Framework Express.js mạnh mẽ, linh hoạt.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Database &amp; ODM: MongoDB Atlas (Cơ sở dữ liệu đám mây NoSQL) kết hợp Mongoose ODM quản lý Schemas chặt chẽ.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Frontend (Giao diện người dùng):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Template Engine: Pug (Jade) biên dịch HTML động phía Server.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Styling &amp; Layout: Vanilla CSS và Bootstrap để xây dựng giao diện hiện đại, responsive.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Dịch vụ &amp; Thư viện tích hợp: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Cloudinary Cloud Storage: Lưu trữ hình ảnh sản phẩm và ảnh đại diện.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Nodemailer: Gửi email tự động (Mã xác thực OTP, Thông báo chi tiết đơn hàng).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TinyMCE: Trình soạn thảo văn bản phong phú cho các mô tả sản phẩm của 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Kiến Trúc Hệ Thống (Mô Hình MVC)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Hệ thống được phát triển chặt chẽ theo mô hình thiết kế Model - View - Controller (MVC):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Model (models/): Khai báo các Schemas của Mongoose (Product, Category, User, Order...) để tương tác trực tiếp với cơ sở dữ liệu MongoDB.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View (views/): Các tệp template `.pug` chịu trách nhiệm render và xuất mã HTML hiển thị giao diện cho trình duyệt.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Controller (controllers/): Nhận tham số từ router, thực hiện tính toán logic nghiệp vụ, gọi model truy vấn dữ liệu và trả về kết quả cho view.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Routes (routes/): Phân cấp rõ ràng các luồng điều hướng của Admin (`/admin/...`) và Client (`/...`).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Middlewares: Xử lý các tác vụ xuyên suốt như xác thực đăng nhập (auth), gán biến dùng chung (locals), và xử lý upload file qua Cloudinary.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1.5. Sơ Đồ Use Case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Tác nhân chính: Khách hàng (Client) và Quản trị viên (Admin).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Phân hệ Admin: Quản trị toàn bộ dữ liệu hệ thống (sản phẩm, danh mục, tài khoản, vai trò, đơn hàng, phân quyền).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Phân hệ Client: Đăng ký, đăng nhập, tìm kiếm, mua sắm trực tuyến và theo dõi lịch sử đơn hàng.</a:t>
            </a:r>
          </a:p>
        </p:txBody>
      </p:sp>
      <p:pic>
        <p:nvPicPr>
          <p:cNvPr id="5" name="Picture 4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8521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5.9. Sơ Đồ Thực Thể Liên Kết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Mô tả cấu trúc và quan hệ cơ sở dữ liệu MongoDB.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Mối quan hệ chính:</a:t>
            </a:r>
          </a:p>
          <a:p>
            <a:pPr lvl="1">
              <a:spcAft>
                <a:spcPts val="10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User và Order: 1-N (Một user có nhiều đơn hàng).</a:t>
            </a:r>
          </a:p>
          <a:p>
            <a:pPr lvl="1">
              <a:spcAft>
                <a:spcPts val="10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User và Cart: 1-1 (Mỗi user sở hữu một giỏ hàng).</a:t>
            </a:r>
          </a:p>
          <a:p>
            <a:pPr lvl="1">
              <a:spcAft>
                <a:spcPts val="10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Product và Category: N-1 (Sản phẩm thuộc về danh mục).</a:t>
            </a:r>
          </a:p>
          <a:p>
            <a:pPr lvl="1">
              <a:spcAft>
                <a:spcPts val="10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Account và Role: N-1 (Tài khoản admin có một vai trò).</a:t>
            </a:r>
          </a:p>
        </p:txBody>
      </p:sp>
      <p:pic>
        <p:nvPicPr>
          <p:cNvPr id="5" name="Picture 4" descr="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675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Tổng Quan Phân Hệ ADMIN (Quản Trị)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tiêu: Cung cấp bộ công cụ vận hành hoàn chỉnh cho quản trị viên và nhân viên bán hàng.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Cơ chế bảo mật an toàn: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Phân tách tuyệt đối route thông qua middleware bảo vệ.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Kiểm soát truy cập chặt chẽ (Authentication &amp; Authorization).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Thiết kế giao diện quản lý: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Thống nhất bố cục sử dụng Side Navigation Bar (Thanh điều hướng bên) để dễ dàng di chuyển giữa các chức năng.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Đồng bộ số liệu thống kê thời gian thực trên giao diện.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Các nghiệp vụ quản lý cốt lõi: Dashboard, Sản phẩm, Danh mục, Đơn hàng, Vai trò và Tài khoản.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Đăng Nhập &amp; Xác Thực Tài Khoản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Đường dẫn truy cập: `/admin/auth/login` (Phương thức GET hiển thị giao diện, POST xử lý dữ liệu).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Quy trình xử lý đăng nhập: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Khách hàng điền Email và Password.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Hệ thống mã hóa MD5 mật khẩu đầu vào và so sánh với mật khẩu đã lưu trong database.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Nếu khớp, lưu thông tin tài khoản vào session: `req.session.user`.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Middleware checkAuth (Xử lý trung gian):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Áp dụng trên toàn bộ các route admin để chặn truy cập trái phép.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Nếu session không tồn tại, tự động chuyển hướng (redirect) về trang đăng nhập.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Tính năng Đăng xuất: Xóa sạch session (`req.session.destroy()`) và chuyển hướng.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Trang Tổng Quan (Dashboard)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tiêu: Giúp quản trị viên có cái nhìn toàn cảnh về tình hình kinh doanh và quy mô dữ liệu.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Các chỉ số thống kê chính hiển thị dạng Card (Bootstrap):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Tổng số đơn hàng: Đếm các đơn hàng đang hoạt động trong database.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Tổng số sản phẩm: Đếm các sản phẩm chưa bị xóa.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Số lượng tài khoản Admin: Thống kê số lượng nhân sự vận hành hệ thống.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Tổng doanh thu: Cộng dồn giá trị thực tế của các đơn hàng (đã trừ phần trăm giảm giá của sản phẩm).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Logic xử lý trong Controller: Sử dụng hàm `countDocuments()` của Mongoose giúp tối ưu hóa hiệu năng truy vấn trên tập dữ liệu lớn.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Quản Lý Sản Phẩm (Products)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Tính năng CRUD sản phẩm toàn diện: Xem danh sách, Thêm mới, Chỉnh sửa thông tin, Xóa mềm sản phẩm.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Bộ lọc và tìm kiếm thông minh: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Lọc theo trạng thái hoạt động: Active (Hoạt động) / Inactive (Dừng hoạt động).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Tìm kiếm sản phẩm theo từ khóa (chữ có dấu/không dấu) kết hợp phân trang tự động.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Quản lý trạng thái và vị trí: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Cho phép click đổi trạng thái nhanh trực tiếp trên giao diện danh sách qua Ajax/Patch request.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Thay đổi vị trí hiển thị (`position`) của sản phẩm trên trang chủ.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Lịch sử hoạt động: Lưu thông tin chi tiết người tạo, thời gian tạo, người cập nhật cuối cùng.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Thùng Rác Sản Phẩm (Recycle Bin)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Cơ chế Xóa mềm (Soft Delete):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Tránh mất mát dữ liệu do thao tác nhầm lẫn của quản trị viên.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Khi chọn xóa, hệ thống cập nhật trường `deleted: true` và lưu mốc thời gian xóa (`deletedAt`).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Các chức năng trong trang Thùng rác: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Xem danh sách các sản phẩm đã bị xóa mềm.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Khôi phục sản phẩm: Cập nhật lại `deleted: false`, đưa sản phẩm trở lại danh sách bán hàng.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Xóa vĩnh viễn: Thực hiện xóa hoàn toàn bản ghi khỏi database MongoDB bằng lệnh `deleteOne`.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Ghi nhận thông tin người thực hiện xóa và khôi phục để đảm bảo tính minh bạch.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Quản Lý Danh Mục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Cấu trúc danh mục đa cấp: Cho phép tạo danh mục cha và các danh mục con lồng nhau vô hạn.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Sử dụng trường `parent_id` để liên kết danh mục con với danh mục cha tương ứng.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Thuật toán xây dựng cây thư mục (Helper `createTree`):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Hàm đệ quy quét qua danh sách danh mục phẳng lấy từ database.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Tự động nhóm và lồng các danh mục con vào thuộc tính `children[]` của danh mục cha.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Giúp render menu dropdown đa cấp mượt mà phía Client và giao diện chọn danh mục phía Admin.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Hỗ trợ chỉnh sửa thông tin danh mục, cập nhật ảnh đại diện và thay đổi trạng thái hoạt động.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Quản Lý Đơn Hàng (Orders)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tiêu: Đảm bảo quy trình xử lý đơn hàng diễn ra chính xác và nhanh chóng.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Các tính năng quản trị đơn hàng mới cập nhật: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Xem danh sách đơn hàng: Sắp xếp theo thời gian đặt hàng từ mới nhất đến cũ nhất.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Xem chi tiết đơn hàng: Hiển thị thông tin khách hàng (Tên, SĐT, Địa chỉ) và danh sách sản phẩm.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Cập nhật thông tin giao hàng &amp; Trạng thái: Chờ xử lý, Đang xử lý, Đã gửi hàng, Đã hủy.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Xóa bớt sản phẩm khỏi đơn hàng: Tự động cập nhật lại số lượng và tổng tiền của đơn hàng tương ứng.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Đồng bộ sidebar: Sidebar admin hiển thị đếm số lượng đơn hàng chưa xử lý theo thời gian thực.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Quản Lý Tài Khoản Nhân Viên (Accounts)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tiêu: Quản lý và phân phối tài khoản đăng nhập cho đội ngũ nhân sự vận hành hệ thống.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Các tính năng quản lý tài khoản: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Thêm mới tài khoản: Nhập thông tin họ tên, email, số điện thoại, mật khẩu và ảnh đại diện.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Gán vai trò (Role): Liên kết tài khoản với một nhóm quyền cụ thể qua thuộc tính `role_id`.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Kích hoạt/Vô hiệu hóa: Bật/tắt trạng thái hoạt động nhanh của tài khoản trên giao diện.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Tính năng Khôi phục mật khẩu mặc định: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Hỗ trợ quản trị viên khôi phục lại mật khẩu cho nhân viên khi quên.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Mật khẩu mặc định sau khôi phục được gán bằng chính email đăng nhập của tài khoản đó.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Admin - Quản Lý Vai Trò &amp; Phân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Thiết kế cơ chế phân quyền dựa trên vai trò (Role-Based Access Control - RBAC):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Định nghĩa Vai trò (Roles): Tạo các nhóm vai trò như Quản trị tối cao, Nhân viên kho, Nhân viên tư vấn.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Ma Trận Phân Quyền (Permissions Matrix):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Giao diện dạng bảng checkbox trực quan hiển thị toàn bộ quyền hạn hệ thống.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Cho phép tích chọn gán các quyền cụ thể (ví dụ: `products_view`, `products_create`, `orders_edit`...).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Các quyền được lưu thành mảng chuỗi trong Role model.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Middleware `checkPermission` (Chặn request trái phép):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Đối chiếu danh sách quyền của tài khoản đăng nhập với yêu cầu của route.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Trả về thông báo lỗi hoặc chuyển hướng nếu người dùng cố ý truy cập mục không được phép.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Tổng Quan Phân Hệ CLIENT (Khách Hàng)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Mục tiêu: Mang lại trải nghiệm mua sắm mượt mà, trực quan và an tâm cho khách hàng.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Bố cục giao diện phía Client: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Header: Menu danh mục sản phẩm đa cấp, ô tìm kiếm nhanh, giỏ hàng, thông tin tài khoản.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Trang chủ: Banner quảng cáo và các khối trưng bày sản phẩm nổi bật.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Footer: Thông tin liên hệ và chính sách mua hàng.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Bảo mật thông tin: Khách hàng đăng ký tài khoản bắt buộc phải xác thực thông qua mã OTP gửi về email.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Quản lý thông tin cá nhân: Đổi thông tin giao hàng, cập nhật avatar và theo dõi đơn hàng đã mua.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Client - Trang Chủ &amp; Xem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Trang chủ hiển thị các danh mục sản phẩm được phân loại rõ ràng: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Sản phẩm nổi bật (Featured Products): Sản phẩm được Admin tích chọn làm nổi bật.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Sản phẩm mới nhất (Latest Products): Sắp xếp tự động theo thời gian đăng bán mới nhất.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Sản phẩm giảm giá mạnh nhất (Best Sale): Sắp xếp theo phần trăm giảm giá (`discountPercentage`).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Giao diện phân loại danh mục: Menu dropdown sử dụng dữ liệu cây danh mục đệ quy từ Middleware.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Trang chi tiết sản phẩm: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Hiển thị hình ảnh phóng to, thông tin giá gốc và giá sau khi giảm giá.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Hiển thị mô tả sản phẩm (HTML từ TinyMCE) và danh sách sản phẩm liên quan cùng danh mục.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Client - Tìm Kiếm, Sắp Xếp &amp; Phân Trang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Tính năng tìm kiếm sản phẩm: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Nhận từ khóa tìm kiếm trực tiếp từ thanh tìm kiếm trên Header.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Sử dụng Regex tìm kiếm không phân biệt chữ hoa/thường: `{ title: { $regex: keyword, $options: 'i' } }`.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Hiển thị trang kết quả tìm kiếm kèm số lượng sản phẩm tìm thấy phù hợp.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Sắp xếp sản phẩm phong phú: Theo giá tăng dần, giá giảm dần, hoặc theo thời gian đăng mới nhất.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Bộ lọc khoảng giá: Khách hàng có thể nhập khoảng giá mong muốn để lọc sản phẩm phù hợp ngân sách.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Hệ thống phân trang (Pagination): Chia nhỏ danh sách sản phẩm giúp giảm băng thông và tăng tốc độ tải trang.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Client - Đăng Ký, Đăng Nhập &amp; Xác Thực OTP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Quy trình Đăng ký tài khoản an toàn: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Người dùng điền Họ tên, Email, Mật khẩu.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Hệ thống kiểm tra trùng lặp email và tính hợp lệ của mật khẩu.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Tạo mã OTP ngẫu nhiên 6 chữ số và gửi qua Email người dùng bằng Nodemailer.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Mã OTP và thông tin đăng ký được lưu tạm thời trong Validate Email Model với thời gian hết hạn (TTL).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Người dùng nhập đúng mã OTP, hệ thống mới chính thức tạo tài khoản hoạt động trong database.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Quy trình Quên mật khẩu: Gửi mã OTP xác nhận qua email để cấp quyền đặt lại mật khẩu mới cho người dùng.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Client - Giỏ Hàng &amp; Thanh Toán (Checkout)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Quản lý Giỏ hàng (Cart):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Giỏ hàng lưu trữ danh sách sản phẩm (`product_id`) và số lượng tương ứng.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Hỗ trợ lưu giỏ hàng theo `user_id` nếu người dùng đã đăng nhập, hoặc cookie giỏ hàng tạm thời.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Khách hàng dễ dàng thêm, sửa số lượng hoặc xóa sản phẩm khỏi giỏ hàng trực tiếp.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Quy trình Thanh toán &amp; Đặt hàng: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Khách hàng điền thông tin người nhận (Họ tên, SĐT, Địa chỉ giao hàng).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Hệ thống tạo hóa đơn đơn hàng (`Order`) trong database, tự động trừ số lượng sản phẩm trong kho.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Gửi email hóa đơn chi tiết cho khách hàng và làm sạch giỏ hàng.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Chuyển hướng sang trang thông báo Đặt hàng thành công hiển thị đầy đủ ảnh minh họa sản phẩm.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Client - Lịch Sử Đơn Hàng Đã Mua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Tính năng mới cập nhật giúp tăng trải nghiệm mua sắm của khách hàng thành viên: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Đường dẫn truy cập: `/orders` (Danh sách đơn hàng) và `/orders/detail/:id` (Chi tiết đơn hàng).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Yêu cầu xác thực: Khách hàng bắt buộc phải đăng nhập tài khoản để xem đơn hàng cá nhân.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Nội dung hiển thị chi tiết: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Danh sách đơn hàng đã đặt xếp theo thời gian mới nhất.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Chi tiết từng sản phẩm trong đơn hàng: Ảnh minh họa sản phẩm, tên sản phẩm, số lượng đặt mua.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Giá gốc và đơn giá mới sau khi đã áp dụng chương trình giảm giá tại thời điểm mua hàng.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Thông tin giao nhận hàng và Trạng thái xử lý đơn hàng tương ứng từ phía Admin.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Đánh Giá Kết Quả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Kết quả đạt được của dự án: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Xây dựng thành công hệ thống website bán hàng trực tuyến hoàn chỉnh theo mô hình MVC.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Triển khai thành công tính năng quản lý đơn hàng động liên kết giữa Client và Admin.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Giao diện trực quan, tương thích tốt trên nhiều kích thước màn hình thiết bị.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Triển khai ứng dụng lên đám mây Vercel và cơ sở dữ liệu MongoDB Atlas hoạt động ổn định.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Hướng phát triển và cải thiện trong tương lai: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Nâng cấp cơ chế bảo mật: Thay thế mã hóa MD5 bằng bcrypt (mã hóa một chiều có muối).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Tích hợp các cổng thanh toán điện tử phổ biến tại Việt Nam (MoMo, ZaloPay, VNPay).</a:t>
            </a:r>
          </a:p>
          <a:p>
            <a:pPr lvl="1">
              <a:spcAft>
                <a:spcPts val="800"/>
              </a:spcAft>
              <a:defRPr sz="1600" i="1">
                <a:solidFill>
                  <a:srgbClr val="475569"/>
                </a:solidFill>
                <a:latin typeface="Arial"/>
              </a:defRPr>
            </a:pPr>
            <a:r>
              <a:t>• Tích hợp Socket.io để xử lý thông báo đơn hàng và hỗ trợ khách hàng trực tuyến theo thời gian thực.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